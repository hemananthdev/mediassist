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794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15788" y="685800"/>
            <a:ext cx="960120" cy="960120"/>
          </a:xfrm>
          <a:prstGeom prst="ellipse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pptx_build/icons/stetho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419" y="9354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8745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MediAssist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0" y="26060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Healthcare Chatbot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303580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Technical Assignment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990192" y="39776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990192" y="39776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72688" y="39776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672688" y="39776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55184" y="39776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355184" y="39776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037680" y="39776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037680" y="39776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20176" y="397764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720176" y="39776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718408" y="5751576"/>
            <a:ext cx="4754880" cy="685800"/>
          </a:xfrm>
          <a:prstGeom prst="roundRect">
            <a:avLst>
              <a:gd name="adj" fmla="val 13333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 15"/>
          <p:cNvSpPr/>
          <p:nvPr/>
        </p:nvSpPr>
        <p:spPr>
          <a:xfrm>
            <a:off x="3718408" y="58521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Hemananth U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718408" y="61447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90008" y="9144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90008" y="914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867248" y="133502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7360" y="1591056"/>
            <a:ext cx="8714232" cy="548640"/>
          </a:xfrm>
          <a:prstGeom prst="roundRect">
            <a:avLst>
              <a:gd name="adj" fmla="val 13333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901952" y="1645920"/>
            <a:ext cx="8385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 ·  Dark theme · Chat bubbles · Confidence badge · Sources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67248" y="219456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2450592"/>
            <a:ext cx="9628632" cy="868680"/>
          </a:xfrm>
          <a:prstGeom prst="roundRect">
            <a:avLst>
              <a:gd name="adj" fmla="val 8421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444752" y="2505456"/>
            <a:ext cx="9299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LAYER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src/utils.py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→ Safety → Greeting → Diagnosis → Medication Change → Off-topic</a:t>
            </a:r>
            <a:endParaRPr lang="en-US" sz="1400" dirty="0"/>
          </a:p>
          <a:p>
            <a:pPr marL="0" indent="0">
              <a:buNone/>
            </a:pPr>
            <a:r>
              <a:rPr lang="en-US" sz="105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Canned responses returned immediately if triggered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5888" y="33649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(safe query)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18408" y="336499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16088" y="336499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80160" y="3639312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444752" y="3694176"/>
            <a:ext cx="43342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RETRIEVER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src/rag.py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 →  Top-4 chunks + confidence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5352" y="3639312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9944" y="3694176"/>
            <a:ext cx="43342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6 exchanges  ·  HumanMessage + AIMessage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67248" y="477316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80160" y="5084064"/>
            <a:ext cx="9628632" cy="777240"/>
          </a:xfrm>
          <a:prstGeom prst="roundRect">
            <a:avLst>
              <a:gd name="adj" fmla="val 9412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444752" y="5138928"/>
            <a:ext cx="9299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CHAIN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chatbot.py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ChatPromptTemplate (src/prompts.py)  →  ChatGroq (Groq API)  →  StrOutputParser (LangChain LCEL)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67248" y="591616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Sources + Confidence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LLM Rationale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6949440" cy="427939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6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DABF7"/>
                          </a:solidFill>
                        </a:rPr>
                        <a:t>UI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Streamlit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Assignment fit · session state · rapid prototyping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DABF7"/>
                          </a:solidFill>
                        </a:rPr>
                        <a:t>LLM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Groq — llama-3.3-70b-versatile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Sub-second inference · free tier · strong instruction following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DABF7"/>
                          </a:solidFill>
                        </a:rPr>
                        <a:t>Embeddings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nomic-embed-text (Ollama)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Local, no API cost · 768-dim, competitive with paid models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DABF7"/>
                          </a:solidFill>
                        </a:rPr>
                        <a:t>Vector DB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ChromaDB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File-persisted · no server needed · cosine built-in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DABF7"/>
                          </a:solidFill>
                        </a:rPr>
                        <a:t>Orchestration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LangChain LCEL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Clean prompt | llm | parser pipeline · native Groq support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DABF7"/>
                          </a:solidFill>
                        </a:rPr>
                        <a:t>Memory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Python list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Simple &amp; sufficient · session-scoped, no persistence overhead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DABF7"/>
                          </a:solidFill>
                        </a:rPr>
                        <a:t>Launcher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Custom run.py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Pre-flight checks: Python, Ollama, API key, vectorstore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7635240" y="960120"/>
            <a:ext cx="4096512" cy="5257800"/>
          </a:xfrm>
          <a:prstGeom prst="roundRect">
            <a:avLst>
              <a:gd name="adj" fmla="val 2232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7909560" y="1234440"/>
            <a:ext cx="457200" cy="457200"/>
          </a:xfrm>
          <a:prstGeom prst="ellipse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pptx_build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1362456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0" y="1207008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Groq over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Gemini?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927848" y="2331720"/>
            <a:ext cx="351129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LPU delivers roughly 10x faster inference than GPU-based APIs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supports the full demo without billing risk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llama-3.3-70b-versatile scores comparably to GPT-4o on instruction-following benchmarks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retention policy — appropriate for a healthcare context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&amp; Prompt Engineering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 (run once)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233672" y="8961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TIME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" y="1225296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TXT source files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2080260" y="15636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73936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1792224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 / TextLoader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2080260" y="21305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40864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2359152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</a:t>
            </a:r>
            <a:endParaRPr lang="en-US" sz="93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chunk_size=800, overlap=100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2080260" y="2697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07792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" y="2926080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ollama.embed(nomic-embed-text)</a:t>
            </a:r>
            <a:endParaRPr lang="en-US" sz="93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of 32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2080260" y="32644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66928" y="3493008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PersistentClient</a:t>
            </a:r>
            <a:endParaRPr lang="en-US" sz="93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healthcare_kb · cosine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233672" y="1207008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43400" y="1225296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5856732" y="15636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33672" y="1773936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343400" y="1792224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ollama.embed(nomic-embed-text)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5856732" y="21305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33672" y="2340864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343400" y="2359152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cosine search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5856732" y="2697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33672" y="2907792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343400" y="2926080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Top-4 chunks + confidence</a:t>
            </a:r>
            <a:endParaRPr lang="en-US" sz="93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≤0.25 High · ≤0.45 Med · &gt;0.45 Low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856732" y="32644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33672" y="3474720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343400" y="3493008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into prompt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8010144" y="896112"/>
            <a:ext cx="3724351" cy="2743200"/>
          </a:xfrm>
          <a:prstGeom prst="roundRect">
            <a:avLst>
              <a:gd name="adj" fmla="val 3333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010144" y="1051560"/>
            <a:ext cx="37243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615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8010144" y="1517904"/>
            <a:ext cx="37243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10144" y="1755648"/>
            <a:ext cx="37243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10144" y="1975104"/>
            <a:ext cx="37243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2,919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8010144" y="2441448"/>
            <a:ext cx="37243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11312" y="2743200"/>
            <a:ext cx="33220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manuals · CDC fact sheets · hypertension &amp; diabetes guides · mental health · first aid + 3 curated TXT files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913632"/>
            <a:ext cx="384048" cy="384048"/>
          </a:xfrm>
          <a:prstGeom prst="ellipse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0" descr="/home/claude/pptx_build/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33" y="4021165"/>
            <a:ext cx="168981" cy="168981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978408" y="38862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— 9 Behavioral Rules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457200" y="4407408"/>
            <a:ext cx="3649370" cy="457200"/>
          </a:xfrm>
          <a:prstGeom prst="roundRect">
            <a:avLst>
              <a:gd name="adj" fmla="val 12000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585216" y="4407408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healthcare questions</a:t>
            </a:r>
            <a:endParaRPr lang="en-US" sz="1030" dirty="0"/>
          </a:p>
        </p:txBody>
      </p:sp>
      <p:sp>
        <p:nvSpPr>
          <p:cNvPr id="45" name="Shape 42"/>
          <p:cNvSpPr/>
          <p:nvPr/>
        </p:nvSpPr>
        <p:spPr>
          <a:xfrm>
            <a:off x="4271162" y="4407408"/>
            <a:ext cx="3649370" cy="457200"/>
          </a:xfrm>
          <a:prstGeom prst="roundRect">
            <a:avLst>
              <a:gd name="adj" fmla="val 12000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4399178" y="4407408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retrieved context as primary source</a:t>
            </a:r>
            <a:endParaRPr lang="en-US" sz="1030" dirty="0"/>
          </a:p>
        </p:txBody>
      </p:sp>
      <p:sp>
        <p:nvSpPr>
          <p:cNvPr id="47" name="Shape 44"/>
          <p:cNvSpPr/>
          <p:nvPr/>
        </p:nvSpPr>
        <p:spPr>
          <a:xfrm>
            <a:off x="8085125" y="4407408"/>
            <a:ext cx="3649370" cy="457200"/>
          </a:xfrm>
          <a:prstGeom prst="roundRect">
            <a:avLst>
              <a:gd name="adj" fmla="val 12000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8213141" y="4407408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phrase if context missing</a:t>
            </a:r>
            <a:endParaRPr lang="en-US" sz="1030" dirty="0"/>
          </a:p>
        </p:txBody>
      </p:sp>
      <p:sp>
        <p:nvSpPr>
          <p:cNvPr id="49" name="Shape 46"/>
          <p:cNvSpPr/>
          <p:nvPr/>
        </p:nvSpPr>
        <p:spPr>
          <a:xfrm>
            <a:off x="457200" y="4974336"/>
            <a:ext cx="3649370" cy="457200"/>
          </a:xfrm>
          <a:prstGeom prst="roundRect">
            <a:avLst>
              <a:gd name="adj" fmla="val 12000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585216" y="4974336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diagnose diseases</a:t>
            </a:r>
            <a:endParaRPr lang="en-US" sz="1030" dirty="0"/>
          </a:p>
        </p:txBody>
      </p:sp>
      <p:sp>
        <p:nvSpPr>
          <p:cNvPr id="51" name="Shape 48"/>
          <p:cNvSpPr/>
          <p:nvPr/>
        </p:nvSpPr>
        <p:spPr>
          <a:xfrm>
            <a:off x="4271162" y="4974336"/>
            <a:ext cx="3649370" cy="457200"/>
          </a:xfrm>
          <a:prstGeom prst="roundRect">
            <a:avLst>
              <a:gd name="adj" fmla="val 12000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4399178" y="4974336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prescribe medications</a:t>
            </a:r>
            <a:endParaRPr lang="en-US" sz="1030" dirty="0"/>
          </a:p>
        </p:txBody>
      </p:sp>
      <p:sp>
        <p:nvSpPr>
          <p:cNvPr id="53" name="Shape 50"/>
          <p:cNvSpPr/>
          <p:nvPr/>
        </p:nvSpPr>
        <p:spPr>
          <a:xfrm>
            <a:off x="8085125" y="4974336"/>
            <a:ext cx="3649370" cy="457200"/>
          </a:xfrm>
          <a:prstGeom prst="roundRect">
            <a:avLst>
              <a:gd name="adj" fmla="val 12000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8213141" y="4974336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wording for diagnosis refusals</a:t>
            </a:r>
            <a:endParaRPr lang="en-US" sz="1030" dirty="0"/>
          </a:p>
        </p:txBody>
      </p:sp>
      <p:sp>
        <p:nvSpPr>
          <p:cNvPr id="55" name="Shape 52"/>
          <p:cNvSpPr/>
          <p:nvPr/>
        </p:nvSpPr>
        <p:spPr>
          <a:xfrm>
            <a:off x="457200" y="5541264"/>
            <a:ext cx="3649370" cy="457200"/>
          </a:xfrm>
          <a:prstGeom prst="roundRect">
            <a:avLst>
              <a:gd name="adj" fmla="val 12000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585216" y="5541264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wording for medication refusals</a:t>
            </a:r>
            <a:endParaRPr lang="en-US" sz="1030" dirty="0"/>
          </a:p>
        </p:txBody>
      </p:sp>
      <p:sp>
        <p:nvSpPr>
          <p:cNvPr id="57" name="Shape 54"/>
          <p:cNvSpPr/>
          <p:nvPr/>
        </p:nvSpPr>
        <p:spPr>
          <a:xfrm>
            <a:off x="4271162" y="5541264"/>
            <a:ext cx="3649370" cy="457200"/>
          </a:xfrm>
          <a:prstGeom prst="roundRect">
            <a:avLst>
              <a:gd name="adj" fmla="val 12000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5"/>
          <p:cNvSpPr/>
          <p:nvPr/>
        </p:nvSpPr>
        <p:spPr>
          <a:xfrm>
            <a:off x="4399178" y="5541264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Concise, jargon-free language</a:t>
            </a:r>
            <a:endParaRPr lang="en-US" sz="1030" dirty="0"/>
          </a:p>
        </p:txBody>
      </p:sp>
      <p:sp>
        <p:nvSpPr>
          <p:cNvPr id="59" name="Shape 56"/>
          <p:cNvSpPr/>
          <p:nvPr/>
        </p:nvSpPr>
        <p:spPr>
          <a:xfrm>
            <a:off x="8085125" y="5541264"/>
            <a:ext cx="3649370" cy="457200"/>
          </a:xfrm>
          <a:prstGeom prst="roundRect">
            <a:avLst>
              <a:gd name="adj" fmla="val 12000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7"/>
          <p:cNvSpPr/>
          <p:nvPr/>
        </p:nvSpPr>
        <p:spPr>
          <a:xfrm>
            <a:off x="8213141" y="5541264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disclaimer on every response</a:t>
            </a:r>
            <a:endParaRPr lang="en-US" sz="1030" dirty="0"/>
          </a:p>
        </p:txBody>
      </p:sp>
      <p:sp>
        <p:nvSpPr>
          <p:cNvPr id="61" name="Shape 58"/>
          <p:cNvSpPr/>
          <p:nvPr/>
        </p:nvSpPr>
        <p:spPr>
          <a:xfrm>
            <a:off x="457200" y="6163056"/>
            <a:ext cx="11277295" cy="475488"/>
          </a:xfrm>
          <a:prstGeom prst="roundRect">
            <a:avLst>
              <a:gd name="adj" fmla="val 15385"/>
            </a:avLst>
          </a:prstGeom>
          <a:solidFill>
            <a:srgbClr val="1A2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59"/>
          <p:cNvSpPr/>
          <p:nvPr/>
        </p:nvSpPr>
        <p:spPr>
          <a:xfrm>
            <a:off x="640080" y="6163056"/>
            <a:ext cx="10908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placement: 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are injected into the system message — the highest-priority position — not as a separate user message.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Confidence &amp; Challenges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 — Six-Tier System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949440" cy="2336292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Guardrail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Trigger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05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6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DABF7"/>
                          </a:solidFill>
                        </a:rPr>
                        <a:t>Emergency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“chest pain”, “heart attack”...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911 / emergency instruction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DABF7"/>
                          </a:solidFill>
                        </a:rPr>
                        <a:t>Safety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“how to make a bomb”...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Hard rejection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DABF7"/>
                          </a:solidFill>
                        </a:rPr>
                        <a:t>Greeting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“hi”, “hello”...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Warm intro, skip RAG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DABF7"/>
                          </a:solidFill>
                        </a:rPr>
                        <a:t>Diagnosis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“do I have diabetes?”...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Refer to professional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DABF7"/>
                          </a:solidFill>
                        </a:rPr>
                        <a:t>Medication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“stop my BP medication?”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Refer to physician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9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DABF7"/>
                          </a:solidFill>
                        </a:rPr>
                        <a:t>Off-topic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“bitcoin”, “weather”...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Polite redirect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1188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b="1" i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 </a:t>
            </a:r>
            <a:r>
              <a:rPr lang="en-US" sz="103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 (not substring matching) prevent false positives on legitimate questions like “What vitamins should I take?”</a:t>
            </a:r>
            <a:endParaRPr lang="en-US" sz="1030" dirty="0"/>
          </a:p>
        </p:txBody>
      </p:sp>
      <p:sp>
        <p:nvSpPr>
          <p:cNvPr id="4" name="Text 3"/>
          <p:cNvSpPr/>
          <p:nvPr/>
        </p:nvSpPr>
        <p:spPr>
          <a:xfrm>
            <a:off x="457200" y="4114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Indicator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57200" y="443484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21792" y="4581144"/>
            <a:ext cx="201168" cy="201168"/>
          </a:xfrm>
          <a:prstGeom prst="ellipse">
            <a:avLst/>
          </a:prstGeom>
          <a:solidFill>
            <a:srgbClr val="4CAF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96112" y="4526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" y="489204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≤ 0.25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" y="514807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KB match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34640" y="443484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999232" y="4581144"/>
            <a:ext cx="201168" cy="201168"/>
          </a:xfrm>
          <a:prstGeom prst="ellipse">
            <a:avLst/>
          </a:prstGeom>
          <a:solidFill>
            <a:srgbClr val="E0A7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273552" y="4526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999232" y="489204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≤ 0.45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99232" y="514807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match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12080" y="443484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376672" y="4581144"/>
            <a:ext cx="201168" cy="201168"/>
          </a:xfrm>
          <a:prstGeom prst="ellipse">
            <a:avLst/>
          </a:prstGeom>
          <a:solidFill>
            <a:srgbClr val="E065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650992" y="4526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76672" y="489204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&gt; 0.45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376672" y="514807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general knowledge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635240" y="868680"/>
            <a:ext cx="384048" cy="384048"/>
          </a:xfrm>
          <a:prstGeom prst="ellipse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0" descr="/home/claude/pptx_build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773" y="976213"/>
            <a:ext cx="168981" cy="16898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56448" y="841248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7635240" y="1417320"/>
            <a:ext cx="4096512" cy="1170432"/>
          </a:xfrm>
          <a:prstGeom prst="roundRect">
            <a:avLst>
              <a:gd name="adj" fmla="val 6250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7818120" y="149047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socket exhaustion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818120" y="1801368"/>
            <a:ext cx="3730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ollama.embed(), batch size 32 — one call per batch</a:t>
            </a:r>
            <a:endParaRPr lang="en-US" sz="1030" dirty="0"/>
          </a:p>
        </p:txBody>
      </p:sp>
      <p:sp>
        <p:nvSpPr>
          <p:cNvPr id="28" name="Shape 24"/>
          <p:cNvSpPr/>
          <p:nvPr/>
        </p:nvSpPr>
        <p:spPr>
          <a:xfrm>
            <a:off x="7635240" y="2697480"/>
            <a:ext cx="4096512" cy="1170432"/>
          </a:xfrm>
          <a:prstGeom prst="roundRect">
            <a:avLst>
              <a:gd name="adj" fmla="val 6250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7818120" y="277063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file locks on ChromaDB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818120" y="3081528"/>
            <a:ext cx="3730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shutil.rmtree(ignore_errors=True) replacing PowerShell</a:t>
            </a:r>
            <a:endParaRPr lang="en-US" sz="1030" dirty="0"/>
          </a:p>
        </p:txBody>
      </p:sp>
      <p:sp>
        <p:nvSpPr>
          <p:cNvPr id="31" name="Shape 27"/>
          <p:cNvSpPr/>
          <p:nvPr/>
        </p:nvSpPr>
        <p:spPr>
          <a:xfrm>
            <a:off x="7635240" y="3977640"/>
            <a:ext cx="4096512" cy="1170432"/>
          </a:xfrm>
          <a:prstGeom prst="roundRect">
            <a:avLst>
              <a:gd name="adj" fmla="val 6250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7818120" y="40507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false positives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7818120" y="4361688"/>
            <a:ext cx="3730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 + negative test cases replacing keyword lists</a:t>
            </a:r>
            <a:endParaRPr lang="en-US" sz="1030" dirty="0"/>
          </a:p>
        </p:txBody>
      </p:sp>
      <p:sp>
        <p:nvSpPr>
          <p:cNvPr id="34" name="Shape 30"/>
          <p:cNvSpPr/>
          <p:nvPr/>
        </p:nvSpPr>
        <p:spPr>
          <a:xfrm>
            <a:off x="7635240" y="5257800"/>
            <a:ext cx="4096512" cy="1170432"/>
          </a:xfrm>
          <a:prstGeom prst="roundRect">
            <a:avLst>
              <a:gd name="adj" fmla="val 6250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7818120" y="533095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version conflicts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7818120" y="5641848"/>
            <a:ext cx="3730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to latest compatible versions across the stack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Workflow &amp; Innovation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384048" cy="384048"/>
          </a:xfrm>
          <a:prstGeom prst="ellipse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pptx_build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33" y="1003645"/>
            <a:ext cx="168981" cy="1689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8408" y="8686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Workflow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481328"/>
            <a:ext cx="6675120" cy="1170432"/>
          </a:xfrm>
          <a:prstGeom prst="roundRect">
            <a:avLst>
              <a:gd name="adj" fmla="val 6250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21792" y="1810512"/>
            <a:ext cx="512064" cy="512064"/>
          </a:xfrm>
          <a:prstGeom prst="ellipse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21792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8016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80160" y="18653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--setup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280160" y="213969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 · ollama pull nomic-embed-text · configure .env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761488"/>
            <a:ext cx="6675120" cy="1170432"/>
          </a:xfrm>
          <a:prstGeom prst="roundRect">
            <a:avLst>
              <a:gd name="adj" fmla="val 6250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21792" y="3090672"/>
            <a:ext cx="512064" cy="512064"/>
          </a:xfrm>
          <a:prstGeom prst="ellipse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21792" y="3090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8016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280160" y="314553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 --ingest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280160" y="34198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PDFs + TXT → embed → ChromaDB (~10–15 min, local CPU)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4041648"/>
            <a:ext cx="6675120" cy="1170432"/>
          </a:xfrm>
          <a:prstGeom prst="roundRect">
            <a:avLst>
              <a:gd name="adj" fmla="val 6250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21792" y="4370832"/>
            <a:ext cx="512064" cy="512064"/>
          </a:xfrm>
          <a:prstGeom prst="ellipse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21792" y="4370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8016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280160" y="442569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run.py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280160" y="47000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checks (Python 3.10+, Ollama, API key, vectorstore) → streamlit run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5321808"/>
            <a:ext cx="6675120" cy="1170432"/>
          </a:xfrm>
          <a:prstGeom prst="roundRect">
            <a:avLst>
              <a:gd name="adj" fmla="val 6250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21792" y="5650992"/>
            <a:ext cx="512064" cy="512064"/>
          </a:xfrm>
          <a:prstGeom prst="ellipse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21792" y="5650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280160" y="5413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280160" y="570585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localhost:8501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280160" y="598017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check → RAG retrieval → LLM generation → response + badge + sources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406640" y="896112"/>
            <a:ext cx="384048" cy="384048"/>
          </a:xfrm>
          <a:prstGeom prst="ellipse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1" descr="/home/claude/pptx_build/icons/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173" y="1003645"/>
            <a:ext cx="168981" cy="168981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927848" y="868680"/>
            <a:ext cx="4142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 (Innovation)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7406640" y="1463040"/>
            <a:ext cx="4325112" cy="621792"/>
          </a:xfrm>
          <a:prstGeom prst="roundRect">
            <a:avLst>
              <a:gd name="adj" fmla="val 8824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0"/>
          <p:cNvSpPr/>
          <p:nvPr/>
        </p:nvSpPr>
        <p:spPr>
          <a:xfrm>
            <a:off x="7552944" y="1728216"/>
            <a:ext cx="91440" cy="91440"/>
          </a:xfrm>
          <a:prstGeom prst="rect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7735824" y="1490472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indicator  —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distance → High/Medium/Low badge on every response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7406640" y="2139696"/>
            <a:ext cx="4325112" cy="621792"/>
          </a:xfrm>
          <a:prstGeom prst="roundRect">
            <a:avLst>
              <a:gd name="adj" fmla="val 8824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7552944" y="2404872"/>
            <a:ext cx="91440" cy="91440"/>
          </a:xfrm>
          <a:prstGeom prst="rect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7735824" y="2167128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  —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filenames shown below each assistant message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406640" y="2816352"/>
            <a:ext cx="4325112" cy="621792"/>
          </a:xfrm>
          <a:prstGeom prst="roundRect">
            <a:avLst>
              <a:gd name="adj" fmla="val 8824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6"/>
          <p:cNvSpPr/>
          <p:nvPr/>
        </p:nvSpPr>
        <p:spPr>
          <a:xfrm>
            <a:off x="7552944" y="3081528"/>
            <a:ext cx="91440" cy="91440"/>
          </a:xfrm>
          <a:prstGeom prst="rect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7"/>
          <p:cNvSpPr/>
          <p:nvPr/>
        </p:nvSpPr>
        <p:spPr>
          <a:xfrm>
            <a:off x="7735824" y="2843784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slider  —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0.0–1.0 · live rebuild via set_temperature()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7406640" y="3493008"/>
            <a:ext cx="4325112" cy="621792"/>
          </a:xfrm>
          <a:prstGeom prst="roundRect">
            <a:avLst>
              <a:gd name="adj" fmla="val 8824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39"/>
          <p:cNvSpPr/>
          <p:nvPr/>
        </p:nvSpPr>
        <p:spPr>
          <a:xfrm>
            <a:off x="7552944" y="3758184"/>
            <a:ext cx="91440" cy="91440"/>
          </a:xfrm>
          <a:prstGeom prst="rect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7735824" y="3520440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  —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pytest cases across all 7 guardrail functions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7406640" y="4169664"/>
            <a:ext cx="4325112" cy="621792"/>
          </a:xfrm>
          <a:prstGeom prst="roundRect">
            <a:avLst>
              <a:gd name="adj" fmla="val 8824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2"/>
          <p:cNvSpPr/>
          <p:nvPr/>
        </p:nvSpPr>
        <p:spPr>
          <a:xfrm>
            <a:off x="7552944" y="4434840"/>
            <a:ext cx="91440" cy="91440"/>
          </a:xfrm>
          <a:prstGeom prst="rect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7735824" y="4197096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launcher  —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run.py validates the whole environment before starting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7406640" y="4846320"/>
            <a:ext cx="4325112" cy="621792"/>
          </a:xfrm>
          <a:prstGeom prst="roundRect">
            <a:avLst>
              <a:gd name="adj" fmla="val 8824"/>
            </a:avLst>
          </a:prstGeom>
          <a:solidFill>
            <a:srgbClr val="1B21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5"/>
          <p:cNvSpPr/>
          <p:nvPr/>
        </p:nvSpPr>
        <p:spPr>
          <a:xfrm>
            <a:off x="7552944" y="5111496"/>
            <a:ext cx="91440" cy="91440"/>
          </a:xfrm>
          <a:prstGeom prst="rect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7735824" y="4873752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handler  —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greetings bypass RAG to skip irrelevant retrieval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7406640" y="5522976"/>
            <a:ext cx="4325112" cy="621792"/>
          </a:xfrm>
          <a:prstGeom prst="roundRect">
            <a:avLst>
              <a:gd name="adj" fmla="val 8824"/>
            </a:avLst>
          </a:prstGeom>
          <a:solidFill>
            <a:srgbClr val="14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48"/>
          <p:cNvSpPr/>
          <p:nvPr/>
        </p:nvSpPr>
        <p:spPr>
          <a:xfrm>
            <a:off x="7552944" y="5788152"/>
            <a:ext cx="91440" cy="91440"/>
          </a:xfrm>
          <a:prstGeom prst="rect">
            <a:avLst/>
          </a:prstGeom>
          <a:solidFill>
            <a:srgbClr val="4DAB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49"/>
          <p:cNvSpPr/>
          <p:nvPr/>
        </p:nvSpPr>
        <p:spPr>
          <a:xfrm>
            <a:off x="7735824" y="5550408"/>
            <a:ext cx="3822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DA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UI  —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config.toml + custom CSS for a production-grade look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457200" y="649224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MediAssist — For educational purposes only. Not a substitute for professional medical advice.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855</Words>
  <Application>Microsoft Office PowerPoint</Application>
  <PresentationFormat>Widescreen</PresentationFormat>
  <Paragraphs>191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Hemananth U</cp:lastModifiedBy>
  <cp:revision>2</cp:revision>
  <dcterms:created xsi:type="dcterms:W3CDTF">2026-07-29T11:04:29Z</dcterms:created>
  <dcterms:modified xsi:type="dcterms:W3CDTF">2026-07-29T11:06:39Z</dcterms:modified>
</cp:coreProperties>
</file>